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8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nulos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E2433"/>
                    </a:solidFill>
                    <a:latin typeface="Arial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Satisfacción NPS</c:v>
                </c:pt>
                <c:pt idx="1">
                  <c:v>Tickets soporte</c:v>
                </c:pt>
                <c:pt idx="2">
                  <c:v>Sesiones/mes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11.99</c:v>
                </c:pt>
                <c:pt idx="1">
                  <c:v>8.2100000000000009</c:v>
                </c:pt>
                <c:pt idx="2">
                  <c:v>5.15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98-4C3B-A56C-A78D515F2F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24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E2433"/>
                </a:solidFill>
                <a:latin typeface="Arial"/>
              </a:defRPr>
            </a:pPr>
            <a:r>
              <a:rPr lang="es-ES" sz="1100" b="0" i="0" u="none" strike="noStrike">
                <a:solidFill>
                  <a:srgbClr val="0E2433"/>
                </a:solidFill>
                <a:latin typeface="Arial"/>
              </a:rPr>
              <a:t>Error medio por cliente: −74%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(USD)</c:v>
                </c:pt>
              </c:strCache>
            </c:strRef>
          </c:tx>
          <c:spPr>
            <a:solidFill>
              <a:srgbClr val="B7C4C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7C4C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34F-48E3-9F18-4EFAD1B15628}"/>
              </c:ext>
            </c:extLst>
          </c:dPt>
          <c:dPt>
            <c:idx val="1"/>
            <c:invertIfNegative val="0"/>
            <c:bubble3D val="0"/>
            <c:spPr>
              <a:solidFill>
                <a:srgbClr val="0F9D7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34F-48E3-9F18-4EFAD1B15628}"/>
              </c:ext>
            </c:extLst>
          </c:dPt>
          <c:dLbls>
            <c:numFmt formatCode="0&quot; USD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E2433"/>
                    </a:solidFill>
                    <a:latin typeface="Arial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Promedio simple</c:v>
                </c:pt>
                <c:pt idx="1">
                  <c:v>Modelo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266.60000000000002</c:v>
                </c:pt>
                <c:pt idx="1">
                  <c:v>68.3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4F-48E3-9F18-4EFAD1B156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24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4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6657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Problema: las fugas de ingresos se detectan tarde. Objetivo: estimar mrr_proximo_trimestre por cliente con Regresión Lineal. ROI: el segmento "alto valor en riesgo" (2.342 clientes, 2,64 M USD/mes proyectados) concentra el 12,4% del MRR; recuperar 10% de ese ingreso equivale a ~264 mil USD mensuales usando el mismo equipo de CS, solo mejor dirigido.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 3 variables tenían nulos (5–12%); ninguna fila se eliminó. Outliers de sesiones son clientes de uso intensivo legítimos: se conservan y se usa RobustScaler. Todo parámetro aprendido (medianas, modas, medias, desviaciones) se calcula solo con entrenamiento.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R² 0,924: las variables del cliente explican el 92% de la variabilidad del MRR del próximo trimestre. MAE 68,3 USD: error promedio por cliente, unas 4 veces menor que predecir el promedio (266,6 USD). RMSE 93,9 USD indica algunos errores grandes, concentrados en cuentas de alto MRR.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palancas accionables por CS son pago puntual, uso, tipo de contrato, satisfacción y soporte; el tamaño de empresa explica valor pero no es accionable. El gasto de marketing aporta poco (~2 USD de MRR por cada 100 USD invertidos): conviene revisar su eficiencia. Estimaciones de impacto basadas en coeficientes del modelo; son asociaciones, no causalidad demostrada.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4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011680" y="5120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CFF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PROBLEMA DE NEGOCIO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686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Anticipar el MRR para proteger los ingresos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84048" cy="384048"/>
          </a:xfrm>
          <a:prstGeom prst="ellipse">
            <a:avLst/>
          </a:prstGeom>
          <a:solidFill>
            <a:srgbClr val="0F9D7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5087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FF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801368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5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SaaSFlow reacciona a las fugas de ingreso cuando ya ocurrieron. Customer Success reparte su tiempo sin saber qué cuentas pondrán en riesgo el MRR del próximo trimestre.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384048" cy="384048"/>
          </a:xfrm>
          <a:prstGeom prst="ellipse">
            <a:avLst/>
          </a:prstGeom>
          <a:solidFill>
            <a:srgbClr val="0F9D7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45720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6060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FF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898648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5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de Regresión Lineal que estima el MRR mensual de cada cliente B2B para el próximo trimestre a partir de su uso, contrato, pago, satisfacción y soporte.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384048" cy="384048"/>
          </a:xfrm>
          <a:prstGeom prst="ellipse">
            <a:avLst/>
          </a:prstGeom>
          <a:solidFill>
            <a:srgbClr val="0F9D7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45720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7033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FF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retorno (ROI)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995928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5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las cuentas de alto valor en riesgo. Escenario ilustrativo: preservar solo el 10% de su MRR equivale a ~264 mil USD/mes, con el mismo equipo de CS.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0" y="1463040"/>
            <a:ext cx="3017520" cy="978408"/>
          </a:xfrm>
          <a:prstGeom prst="roundRect">
            <a:avLst>
              <a:gd name="adj" fmla="val 7477"/>
            </a:avLst>
          </a:prstGeom>
          <a:solidFill>
            <a:srgbClr val="17374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 txBox="1"/>
          <p:nvPr/>
        </p:nvSpPr>
        <p:spPr>
          <a:xfrm>
            <a:off x="585216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30.000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20116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B2B analizados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0" y="2624328"/>
            <a:ext cx="3017520" cy="978408"/>
          </a:xfrm>
          <a:prstGeom prst="roundRect">
            <a:avLst>
              <a:gd name="adj" fmla="val 7477"/>
            </a:avLst>
          </a:prstGeom>
          <a:solidFill>
            <a:srgbClr val="17374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5852160" y="27157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21,3 M USD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5852160" y="31729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mensual de la cartera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0" y="3785616"/>
            <a:ext cx="3017520" cy="978408"/>
          </a:xfrm>
          <a:prstGeom prst="roundRect">
            <a:avLst>
              <a:gd name="adj" fmla="val 7477"/>
            </a:avLst>
          </a:prstGeom>
          <a:solidFill>
            <a:srgbClr val="17374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 txBox="1"/>
          <p:nvPr/>
        </p:nvSpPr>
        <p:spPr>
          <a:xfrm>
            <a:off x="5852160" y="38770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8A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2,64 M USD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5852160" y="43342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en cuentas de alto valor en riesgo (12,4%)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94560" y="4526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F9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Y TRATAMIENTO DE DATOS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1153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Tras el preprocesamiento: datos completos y sin fuga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840480" cy="3429000"/>
          </a:xfrm>
          <a:prstGeom prst="roundRect">
            <a:avLst>
              <a:gd name="adj" fmla="val 2133"/>
            </a:avLst>
          </a:prstGeom>
          <a:solidFill>
            <a:srgbClr val="F3F6F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inicial: % de nulos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645920"/>
          <a:ext cx="365760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3291840"/>
            <a:ext cx="3520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0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Sesgo: </a:t>
            </a: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sesiones/mes con asimetría 1,97 y 4,8% de outliers (máx. 431 vs. mediana 36). MRR objetivo con asimetría 1,05.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0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Tipos: </a:t>
            </a: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como texto, enteros guardados como decimales y 4 categóricas sin codificar. 0 duplicados.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0" y="128016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 txBox="1"/>
          <p:nvPr/>
        </p:nvSpPr>
        <p:spPr>
          <a:xfrm>
            <a:off x="4709160" y="1371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9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Imputación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709160" y="1664208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para sesiones (robusta al sesgo); moda para tickets (3) y NPS (7), valores enteros válidos.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675120" y="128016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 txBox="1"/>
          <p:nvPr/>
        </p:nvSpPr>
        <p:spPr>
          <a:xfrm>
            <a:off x="6812280" y="1371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9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812280" y="1664208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fecha_registro → antigüedad en días (referencia 01-01-2026).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0" y="265176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 txBox="1"/>
          <p:nvPr/>
        </p:nvSpPr>
        <p:spPr>
          <a:xfrm>
            <a:off x="4709160" y="2743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9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709160" y="3035808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Ordinal: tamaño (P&lt;M&lt;G). One-Hot: sector. Contrato 0/1/2 y pago puntual 1/0.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675120" y="265176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 txBox="1"/>
          <p:nvPr/>
        </p:nvSpPr>
        <p:spPr>
          <a:xfrm>
            <a:off x="6812280" y="2743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9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Escalado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812280" y="3035808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RobustScaler para sesiones (outliers); StandardScaler para el resto de continuas.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0" y="4069080"/>
            <a:ext cx="4069080" cy="640080"/>
          </a:xfrm>
          <a:prstGeom prst="roundRect">
            <a:avLst>
              <a:gd name="adj" fmla="val 11429"/>
            </a:avLst>
          </a:prstGeom>
          <a:solidFill>
            <a:srgbClr val="CFF1E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8"/>
          <p:cNvSpPr txBox="1"/>
          <p:nvPr/>
        </p:nvSpPr>
        <p:spPr>
          <a:xfrm>
            <a:off x="4709160" y="408736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data leakage: </a:t>
            </a:r>
            <a:r>
              <a:rPr lang="en-US" sz="1000" dirty="0">
                <a:solidFill>
                  <a:srgbClr val="0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80/20 primero; imputación, codificación y escalado dentro de un Pipeline ajustado solo con train.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845675" y="555327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F9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DEL MODELO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057650" y="1694688"/>
            <a:ext cx="48577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explica el 92% de la variación del MRR futuro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099395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0E24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1451610" y="118948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0,924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1074420" y="18379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FF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en test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74420" y="21564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5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el 92% de las diferencias de MRR entre clientes. Validación cruzada: 0,919 ± 0,002 (sin sobreajuste).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3128772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3F6F8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9" name="Text 7"/>
          <p:cNvSpPr txBox="1"/>
          <p:nvPr/>
        </p:nvSpPr>
        <p:spPr>
          <a:xfrm>
            <a:off x="1311323" y="3208953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9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 USD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1131570" y="3948513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en test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31570" y="4277106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se equivoca en promedio en ~68 USD por cliente: ~10% de un MRR medio de 708 USD.</a:t>
            </a:r>
            <a:endParaRPr lang="en-US" sz="1000" dirty="0"/>
          </a:p>
        </p:txBody>
      </p:sp>
      <p:graphicFrame>
        <p:nvGraphicFramePr>
          <p:cNvPr id="16" name="Chart 0"/>
          <p:cNvGraphicFramePr/>
          <p:nvPr>
            <p:extLst>
              <p:ext uri="{D42A27DB-BD31-4B8C-83A1-F6EECF244321}">
                <p14:modId xmlns:p14="http://schemas.microsoft.com/office/powerpoint/2010/main" val="1448902853"/>
              </p:ext>
            </p:extLst>
          </p:nvPr>
        </p:nvGraphicFramePr>
        <p:xfrm>
          <a:off x="3994246" y="3063765"/>
          <a:ext cx="4330393" cy="1828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4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67712" y="43071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CFF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ESTRATÉGICAS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2267712" y="77471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mueve el MRR y qué debe hacer Customer Success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17374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FF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en MRR mensual (USD, ceteris paribus)*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190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(+1 nivel)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17520" y="17373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0F9D7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3017520" y="17373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+323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214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 puntual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2139696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0F9D7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3017520" y="213969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+204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52374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(+1 nivel)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17520" y="2542032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0F9D7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3017520" y="254203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+128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9260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sesiones/mes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17520" y="2944368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0F9D7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 txBox="1"/>
          <p:nvPr/>
        </p:nvSpPr>
        <p:spPr>
          <a:xfrm>
            <a:off x="3017520" y="29443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32841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punto NPS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17520" y="3346704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0F9D7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3017520" y="334670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7307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ticket soporte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017520" y="374904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E4572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 txBox="1"/>
          <p:nvPr/>
        </p:nvSpPr>
        <p:spPr>
          <a:xfrm>
            <a:off x="3017520" y="37490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1330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/ antigüedad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017520" y="4151376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E556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 txBox="1"/>
          <p:nvPr/>
        </p:nvSpPr>
        <p:spPr>
          <a:xfrm>
            <a:off x="3017520" y="415137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1325880"/>
            <a:ext cx="347472" cy="347472"/>
          </a:xfrm>
          <a:prstGeom prst="ellipse">
            <a:avLst/>
          </a:prstGeom>
          <a:solidFill>
            <a:srgbClr val="0F9D7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 txBox="1"/>
          <p:nvPr/>
        </p:nvSpPr>
        <p:spPr>
          <a:xfrm>
            <a:off x="466344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166360" y="12801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temprana de alto valor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166360" y="155448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FC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semanal de las 2.342 cuentas de alto valor en riesgo (2,64 M USD/mes): morosidad, NPS ≤ 4 o ≥ 6 tickets.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2167128"/>
            <a:ext cx="347472" cy="347472"/>
          </a:xfrm>
          <a:prstGeom prst="ellipse">
            <a:avLst/>
          </a:prstGeom>
          <a:solidFill>
            <a:srgbClr val="0F9D7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4663440" y="2167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166360" y="21214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el uso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166360" y="239572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FC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 guiada en las cuentas de alto valor en riesgo: +10 sesiones/mes en ese grupo ≈ +93 mil USD/mes.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3008376"/>
            <a:ext cx="347472" cy="347472"/>
          </a:xfrm>
          <a:prstGeom prst="ellipse">
            <a:avLst/>
          </a:prstGeom>
          <a:solidFill>
            <a:srgbClr val="0F9D7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4663440" y="3008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5166360" y="296265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a contratos largos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5166360" y="323697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FC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Ofrecer plan anual con descuento a las 2.523 cuentas mensuales de alto valor (+128 USD/mes por nivel).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3849624"/>
            <a:ext cx="347472" cy="347472"/>
          </a:xfrm>
          <a:prstGeom prst="ellipse">
            <a:avLst/>
          </a:prstGeom>
          <a:solidFill>
            <a:srgbClr val="0F9D7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0" name="Text 38"/>
          <p:cNvSpPr txBox="1"/>
          <p:nvPr/>
        </p:nvSpPr>
        <p:spPr>
          <a:xfrm>
            <a:off x="4663440" y="3849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5166360" y="38039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Cobranza y soporte proactivos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166360" y="4078224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FC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 y facilidades de pago; resolver la causa raíz de tickets recurrentes.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812</Words>
  <Application>Microsoft Office PowerPoint</Application>
  <PresentationFormat>Presentación en pantalla (16:9)</PresentationFormat>
  <Paragraphs>77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SaaSFlow – Modelo predictivo de MRR</dc:title>
  <dc:subject>PptxGenJS Presentation</dc:subject>
  <dc:creator>PptxGenJS</dc:creator>
  <cp:lastModifiedBy>sebastian isla pino</cp:lastModifiedBy>
  <cp:revision>4</cp:revision>
  <dcterms:created xsi:type="dcterms:W3CDTF">2026-10-01T20:48:31Z</dcterms:created>
  <dcterms:modified xsi:type="dcterms:W3CDTF">2026-10-01T21:30:30Z</dcterms:modified>
</cp:coreProperties>
</file>